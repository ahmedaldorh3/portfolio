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59" r:id="rId6"/>
    <p:sldId id="265" r:id="rId7"/>
    <p:sldId id="260" r:id="rId8"/>
    <p:sldId id="263" r:id="rId9"/>
    <p:sldId id="269" r:id="rId10"/>
    <p:sldId id="267" r:id="rId11"/>
    <p:sldId id="271" r:id="rId12"/>
    <p:sldId id="282" r:id="rId13"/>
    <p:sldId id="264" r:id="rId14"/>
    <p:sldId id="283" r:id="rId15"/>
    <p:sldId id="272" r:id="rId16"/>
    <p:sldId id="278" r:id="rId17"/>
  </p:sldIdLst>
  <p:sldSz cx="9144000" cy="5143500" type="screen16x9"/>
  <p:notesSz cx="6858000" cy="9144000"/>
  <p:embeddedFontLst>
    <p:embeddedFont>
      <p:font typeface="Barlow Light" panose="00000400000000000000" pitchFamily="2" charset="0"/>
      <p:regular r:id="rId19"/>
      <p:bold r:id="rId20"/>
      <p:italic r:id="rId21"/>
      <p:boldItalic r:id="rId22"/>
    </p:embeddedFont>
    <p:embeddedFont>
      <p:font typeface="Barlow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096C3E-3024-4353-87C0-A7270F41AF63}">
  <a:tblStyle styleId="{59096C3E-3024-4353-87C0-A7270F41AF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E9F9B2-5090-49B3-97C5-18ADBE7AC0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H"/>
        </a:p>
      </dgm:t>
    </dgm:pt>
    <dgm:pt modelId="{3A6DFD9A-3C8C-469E-9524-FD570561E3E3}">
      <dgm:prSet phldrT="[Text]" custT="1"/>
      <dgm:spPr/>
      <dgm:t>
        <a:bodyPr/>
        <a:lstStyle/>
        <a:p>
          <a:r>
            <a:rPr lang="en-PH" sz="2000" b="1" dirty="0">
              <a:solidFill>
                <a:schemeClr val="tx1"/>
              </a:solidFill>
            </a:rPr>
            <a:t>Single Imputation</a:t>
          </a:r>
        </a:p>
      </dgm:t>
    </dgm:pt>
    <dgm:pt modelId="{F9D0BD7F-DF5C-48F5-8F16-ECBDAFDEED15}" type="parTrans" cxnId="{19FF4A9A-5739-444F-95F0-6EE4B66521B1}">
      <dgm:prSet/>
      <dgm:spPr/>
      <dgm:t>
        <a:bodyPr/>
        <a:lstStyle/>
        <a:p>
          <a:endParaRPr lang="en-PH" sz="2000"/>
        </a:p>
      </dgm:t>
    </dgm:pt>
    <dgm:pt modelId="{93650AC3-FCBC-4811-9B31-9D7488788806}" type="sibTrans" cxnId="{19FF4A9A-5739-444F-95F0-6EE4B66521B1}">
      <dgm:prSet/>
      <dgm:spPr/>
      <dgm:t>
        <a:bodyPr/>
        <a:lstStyle/>
        <a:p>
          <a:endParaRPr lang="en-PH" sz="2000"/>
        </a:p>
      </dgm:t>
    </dgm:pt>
    <dgm:pt modelId="{68E22D60-8083-415B-A091-B79DE307175C}">
      <dgm:prSet phldrT="[Text]" custT="1"/>
      <dgm:spPr/>
      <dgm:t>
        <a:bodyPr/>
        <a:lstStyle/>
        <a:p>
          <a:r>
            <a:rPr lang="en-PH" sz="2000" dirty="0"/>
            <a:t>Generates 1 value</a:t>
          </a:r>
        </a:p>
      </dgm:t>
    </dgm:pt>
    <dgm:pt modelId="{16A5B11A-9C5C-4490-BE4D-78ED2F521B76}" type="parTrans" cxnId="{795E88E2-B864-42AC-8504-114FD2D18ADA}">
      <dgm:prSet/>
      <dgm:spPr/>
      <dgm:t>
        <a:bodyPr/>
        <a:lstStyle/>
        <a:p>
          <a:endParaRPr lang="en-PH" sz="2000"/>
        </a:p>
      </dgm:t>
    </dgm:pt>
    <dgm:pt modelId="{21C8BD4F-7449-4224-86DC-782E8920187F}" type="sibTrans" cxnId="{795E88E2-B864-42AC-8504-114FD2D18ADA}">
      <dgm:prSet/>
      <dgm:spPr/>
      <dgm:t>
        <a:bodyPr/>
        <a:lstStyle/>
        <a:p>
          <a:endParaRPr lang="en-PH" sz="2000"/>
        </a:p>
      </dgm:t>
    </dgm:pt>
    <dgm:pt modelId="{D26DED9A-2644-4BCC-8B42-A889971BE754}">
      <dgm:prSet phldrT="[Text]" custT="1"/>
      <dgm:spPr/>
      <dgm:t>
        <a:bodyPr/>
        <a:lstStyle/>
        <a:p>
          <a:r>
            <a:rPr lang="en-PH" sz="2000" b="1" dirty="0">
              <a:solidFill>
                <a:schemeClr val="tx1"/>
              </a:solidFill>
            </a:rPr>
            <a:t>Multiple Imputation</a:t>
          </a:r>
        </a:p>
      </dgm:t>
    </dgm:pt>
    <dgm:pt modelId="{B2E26554-4730-4C29-9607-FC84F8B04C0A}" type="parTrans" cxnId="{1582AC8E-A039-4575-A839-C936B974CB00}">
      <dgm:prSet/>
      <dgm:spPr/>
      <dgm:t>
        <a:bodyPr/>
        <a:lstStyle/>
        <a:p>
          <a:endParaRPr lang="en-PH" sz="2000"/>
        </a:p>
      </dgm:t>
    </dgm:pt>
    <dgm:pt modelId="{DEF76AFB-9ECA-4C47-BE47-C6698B95236A}" type="sibTrans" cxnId="{1582AC8E-A039-4575-A839-C936B974CB00}">
      <dgm:prSet/>
      <dgm:spPr/>
      <dgm:t>
        <a:bodyPr/>
        <a:lstStyle/>
        <a:p>
          <a:endParaRPr lang="en-PH" sz="2000"/>
        </a:p>
      </dgm:t>
    </dgm:pt>
    <dgm:pt modelId="{67F16110-0D05-47FB-8838-0BB8248F46A3}">
      <dgm:prSet phldrT="[Text]" custT="1"/>
      <dgm:spPr/>
      <dgm:t>
        <a:bodyPr/>
        <a:lstStyle/>
        <a:p>
          <a:r>
            <a:rPr lang="en-PH" sz="2000" dirty="0"/>
            <a:t>Generates more than 1 value </a:t>
          </a:r>
          <a:r>
            <a:rPr lang="en-PH" sz="2000" dirty="0">
              <a:sym typeface="Wingdings" panose="05000000000000000000" pitchFamily="2" charset="2"/>
            </a:rPr>
            <a:t> more accurate</a:t>
          </a:r>
          <a:r>
            <a:rPr lang="en-PH" sz="2000" dirty="0"/>
            <a:t> </a:t>
          </a:r>
        </a:p>
      </dgm:t>
    </dgm:pt>
    <dgm:pt modelId="{E0E40899-73C0-4297-B25F-8923577889A3}" type="parTrans" cxnId="{965271CE-EB3E-49F6-8949-99E959553239}">
      <dgm:prSet/>
      <dgm:spPr/>
      <dgm:t>
        <a:bodyPr/>
        <a:lstStyle/>
        <a:p>
          <a:endParaRPr lang="en-PH" sz="2000"/>
        </a:p>
      </dgm:t>
    </dgm:pt>
    <dgm:pt modelId="{517E3187-DE1E-40AC-A147-59BE4F299BCA}" type="sibTrans" cxnId="{965271CE-EB3E-49F6-8949-99E959553239}">
      <dgm:prSet/>
      <dgm:spPr/>
      <dgm:t>
        <a:bodyPr/>
        <a:lstStyle/>
        <a:p>
          <a:endParaRPr lang="en-PH" sz="2000"/>
        </a:p>
      </dgm:t>
    </dgm:pt>
    <dgm:pt modelId="{2D552BDC-BF5F-4498-80EF-0EB169D5A3C4}">
      <dgm:prSet phldrT="[Text]" custT="1"/>
      <dgm:spPr/>
      <dgm:t>
        <a:bodyPr/>
        <a:lstStyle/>
        <a:p>
          <a:r>
            <a:rPr lang="en-PH" sz="2000" dirty="0"/>
            <a:t>Techniques include: </a:t>
          </a:r>
          <a:r>
            <a:rPr lang="en-GB" sz="2000" dirty="0"/>
            <a:t>mean, mode, </a:t>
          </a:r>
          <a:r>
            <a:rPr lang="en-GB" sz="2000" dirty="0" err="1"/>
            <a:t>median.hot</a:t>
          </a:r>
          <a:r>
            <a:rPr lang="en-GB" sz="2000" dirty="0"/>
            <a:t> deck, </a:t>
          </a:r>
          <a:r>
            <a:rPr lang="en-GB" sz="2000" dirty="0" err="1"/>
            <a:t>regresion</a:t>
          </a:r>
          <a:r>
            <a:rPr lang="en-GB" sz="2000" dirty="0"/>
            <a:t> </a:t>
          </a:r>
          <a:r>
            <a:rPr lang="en-PH" sz="2000" dirty="0"/>
            <a:t>  </a:t>
          </a:r>
        </a:p>
      </dgm:t>
    </dgm:pt>
    <dgm:pt modelId="{66B3D013-F87F-415D-8949-D2A2BA5D23CF}" type="parTrans" cxnId="{D994F726-9E2C-4F7F-94C5-84722CDA2F50}">
      <dgm:prSet/>
      <dgm:spPr/>
      <dgm:t>
        <a:bodyPr/>
        <a:lstStyle/>
        <a:p>
          <a:endParaRPr lang="en-PH"/>
        </a:p>
      </dgm:t>
    </dgm:pt>
    <dgm:pt modelId="{ED7633B0-9B6C-4E85-9B41-F7DF11D66B53}" type="sibTrans" cxnId="{D994F726-9E2C-4F7F-94C5-84722CDA2F50}">
      <dgm:prSet/>
      <dgm:spPr/>
      <dgm:t>
        <a:bodyPr/>
        <a:lstStyle/>
        <a:p>
          <a:endParaRPr lang="en-PH"/>
        </a:p>
      </dgm:t>
    </dgm:pt>
    <dgm:pt modelId="{8D629BAF-5CB3-478E-8064-C5B8B8AD387A}">
      <dgm:prSet phldrT="[Text]" custT="1"/>
      <dgm:spPr/>
      <dgm:t>
        <a:bodyPr/>
        <a:lstStyle/>
        <a:p>
          <a:r>
            <a:rPr lang="en-PH" sz="2000" dirty="0"/>
            <a:t>Type example: multiple regression</a:t>
          </a:r>
        </a:p>
      </dgm:t>
    </dgm:pt>
    <dgm:pt modelId="{704AC46D-A8A8-49E0-8523-D2B601FFDE5B}" type="parTrans" cxnId="{C0A79D4B-365E-4B70-8027-8738794ECAD3}">
      <dgm:prSet/>
      <dgm:spPr/>
      <dgm:t>
        <a:bodyPr/>
        <a:lstStyle/>
        <a:p>
          <a:endParaRPr lang="en-PH"/>
        </a:p>
      </dgm:t>
    </dgm:pt>
    <dgm:pt modelId="{00991A95-EB40-4ED5-A9E6-D50E0C87E90D}" type="sibTrans" cxnId="{C0A79D4B-365E-4B70-8027-8738794ECAD3}">
      <dgm:prSet/>
      <dgm:spPr/>
      <dgm:t>
        <a:bodyPr/>
        <a:lstStyle/>
        <a:p>
          <a:endParaRPr lang="en-PH"/>
        </a:p>
      </dgm:t>
    </dgm:pt>
    <dgm:pt modelId="{B60E92DF-647E-4E8D-951A-8DE0CBB39EC4}" type="pres">
      <dgm:prSet presAssocID="{16E9F9B2-5090-49B3-97C5-18ADBE7AC098}" presName="linear" presStyleCnt="0">
        <dgm:presLayoutVars>
          <dgm:animLvl val="lvl"/>
          <dgm:resizeHandles val="exact"/>
        </dgm:presLayoutVars>
      </dgm:prSet>
      <dgm:spPr/>
    </dgm:pt>
    <dgm:pt modelId="{213C21C1-2EC6-49CB-99DC-D4B7C86FA246}" type="pres">
      <dgm:prSet presAssocID="{3A6DFD9A-3C8C-469E-9524-FD570561E3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1644C3-0CF9-4AA5-BF6A-602AC9721758}" type="pres">
      <dgm:prSet presAssocID="{3A6DFD9A-3C8C-469E-9524-FD570561E3E3}" presName="childText" presStyleLbl="revTx" presStyleIdx="0" presStyleCnt="2">
        <dgm:presLayoutVars>
          <dgm:bulletEnabled val="1"/>
        </dgm:presLayoutVars>
      </dgm:prSet>
      <dgm:spPr/>
    </dgm:pt>
    <dgm:pt modelId="{91DC16A2-7175-4261-8CA3-E80DBCB19942}" type="pres">
      <dgm:prSet presAssocID="{D26DED9A-2644-4BCC-8B42-A889971BE75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1DDB5C-D760-4E16-B64D-8205633395F3}" type="pres">
      <dgm:prSet presAssocID="{D26DED9A-2644-4BCC-8B42-A889971BE75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93DCB11-C66F-4CA1-A7F4-2D7581A1F895}" type="presOf" srcId="{D26DED9A-2644-4BCC-8B42-A889971BE754}" destId="{91DC16A2-7175-4261-8CA3-E80DBCB19942}" srcOrd="0" destOrd="0" presId="urn:microsoft.com/office/officeart/2005/8/layout/vList2"/>
    <dgm:cxn modelId="{D994F726-9E2C-4F7F-94C5-84722CDA2F50}" srcId="{3A6DFD9A-3C8C-469E-9524-FD570561E3E3}" destId="{2D552BDC-BF5F-4498-80EF-0EB169D5A3C4}" srcOrd="1" destOrd="0" parTransId="{66B3D013-F87F-415D-8949-D2A2BA5D23CF}" sibTransId="{ED7633B0-9B6C-4E85-9B41-F7DF11D66B53}"/>
    <dgm:cxn modelId="{609DB828-C2E2-4625-9D77-AC55AAF5C836}" type="presOf" srcId="{2D552BDC-BF5F-4498-80EF-0EB169D5A3C4}" destId="{9C1644C3-0CF9-4AA5-BF6A-602AC9721758}" srcOrd="0" destOrd="1" presId="urn:microsoft.com/office/officeart/2005/8/layout/vList2"/>
    <dgm:cxn modelId="{C0A79D4B-365E-4B70-8027-8738794ECAD3}" srcId="{D26DED9A-2644-4BCC-8B42-A889971BE754}" destId="{8D629BAF-5CB3-478E-8064-C5B8B8AD387A}" srcOrd="1" destOrd="0" parTransId="{704AC46D-A8A8-49E0-8523-D2B601FFDE5B}" sibTransId="{00991A95-EB40-4ED5-A9E6-D50E0C87E90D}"/>
    <dgm:cxn modelId="{F08C408B-09A8-4A24-AFAB-EB6CF650B0A8}" type="presOf" srcId="{68E22D60-8083-415B-A091-B79DE307175C}" destId="{9C1644C3-0CF9-4AA5-BF6A-602AC9721758}" srcOrd="0" destOrd="0" presId="urn:microsoft.com/office/officeart/2005/8/layout/vList2"/>
    <dgm:cxn modelId="{1582AC8E-A039-4575-A839-C936B974CB00}" srcId="{16E9F9B2-5090-49B3-97C5-18ADBE7AC098}" destId="{D26DED9A-2644-4BCC-8B42-A889971BE754}" srcOrd="1" destOrd="0" parTransId="{B2E26554-4730-4C29-9607-FC84F8B04C0A}" sibTransId="{DEF76AFB-9ECA-4C47-BE47-C6698B95236A}"/>
    <dgm:cxn modelId="{19FF4A9A-5739-444F-95F0-6EE4B66521B1}" srcId="{16E9F9B2-5090-49B3-97C5-18ADBE7AC098}" destId="{3A6DFD9A-3C8C-469E-9524-FD570561E3E3}" srcOrd="0" destOrd="0" parTransId="{F9D0BD7F-DF5C-48F5-8F16-ECBDAFDEED15}" sibTransId="{93650AC3-FCBC-4811-9B31-9D7488788806}"/>
    <dgm:cxn modelId="{5CEC87C7-658E-42D4-B6A9-16801420632C}" type="presOf" srcId="{8D629BAF-5CB3-478E-8064-C5B8B8AD387A}" destId="{D81DDB5C-D760-4E16-B64D-8205633395F3}" srcOrd="0" destOrd="1" presId="urn:microsoft.com/office/officeart/2005/8/layout/vList2"/>
    <dgm:cxn modelId="{965271CE-EB3E-49F6-8949-99E959553239}" srcId="{D26DED9A-2644-4BCC-8B42-A889971BE754}" destId="{67F16110-0D05-47FB-8838-0BB8248F46A3}" srcOrd="0" destOrd="0" parTransId="{E0E40899-73C0-4297-B25F-8923577889A3}" sibTransId="{517E3187-DE1E-40AC-A147-59BE4F299BCA}"/>
    <dgm:cxn modelId="{FCA7BED5-22C5-4569-BB7F-877B3448044A}" type="presOf" srcId="{16E9F9B2-5090-49B3-97C5-18ADBE7AC098}" destId="{B60E92DF-647E-4E8D-951A-8DE0CBB39EC4}" srcOrd="0" destOrd="0" presId="urn:microsoft.com/office/officeart/2005/8/layout/vList2"/>
    <dgm:cxn modelId="{795E88E2-B864-42AC-8504-114FD2D18ADA}" srcId="{3A6DFD9A-3C8C-469E-9524-FD570561E3E3}" destId="{68E22D60-8083-415B-A091-B79DE307175C}" srcOrd="0" destOrd="0" parTransId="{16A5B11A-9C5C-4490-BE4D-78ED2F521B76}" sibTransId="{21C8BD4F-7449-4224-86DC-782E8920187F}"/>
    <dgm:cxn modelId="{1C7908E7-0B61-49C9-B190-8DDC57642BBA}" type="presOf" srcId="{3A6DFD9A-3C8C-469E-9524-FD570561E3E3}" destId="{213C21C1-2EC6-49CB-99DC-D4B7C86FA246}" srcOrd="0" destOrd="0" presId="urn:microsoft.com/office/officeart/2005/8/layout/vList2"/>
    <dgm:cxn modelId="{B53F90F2-26A7-4222-90B7-7D7E33635BA1}" type="presOf" srcId="{67F16110-0D05-47FB-8838-0BB8248F46A3}" destId="{D81DDB5C-D760-4E16-B64D-8205633395F3}" srcOrd="0" destOrd="0" presId="urn:microsoft.com/office/officeart/2005/8/layout/vList2"/>
    <dgm:cxn modelId="{6AD97C55-08DE-464C-B27F-E40EE90E2442}" type="presParOf" srcId="{B60E92DF-647E-4E8D-951A-8DE0CBB39EC4}" destId="{213C21C1-2EC6-49CB-99DC-D4B7C86FA246}" srcOrd="0" destOrd="0" presId="urn:microsoft.com/office/officeart/2005/8/layout/vList2"/>
    <dgm:cxn modelId="{BCCCAC12-CB92-40CE-9706-1FD781E231ED}" type="presParOf" srcId="{B60E92DF-647E-4E8D-951A-8DE0CBB39EC4}" destId="{9C1644C3-0CF9-4AA5-BF6A-602AC9721758}" srcOrd="1" destOrd="0" presId="urn:microsoft.com/office/officeart/2005/8/layout/vList2"/>
    <dgm:cxn modelId="{9B4F24C8-4AA0-4066-93B3-C1EB3593FAF0}" type="presParOf" srcId="{B60E92DF-647E-4E8D-951A-8DE0CBB39EC4}" destId="{91DC16A2-7175-4261-8CA3-E80DBCB19942}" srcOrd="2" destOrd="0" presId="urn:microsoft.com/office/officeart/2005/8/layout/vList2"/>
    <dgm:cxn modelId="{4809403F-8EFE-44EF-A821-82AFF6A550E8}" type="presParOf" srcId="{B60E92DF-647E-4E8D-951A-8DE0CBB39EC4}" destId="{D81DDB5C-D760-4E16-B64D-8205633395F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C21C1-2EC6-49CB-99DC-D4B7C86FA246}">
      <dsp:nvSpPr>
        <dsp:cNvPr id="0" name=""/>
        <dsp:cNvSpPr/>
      </dsp:nvSpPr>
      <dsp:spPr>
        <a:xfrm>
          <a:off x="0" y="9329"/>
          <a:ext cx="2864323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000" b="1" kern="1200" dirty="0">
              <a:solidFill>
                <a:schemeClr val="tx1"/>
              </a:solidFill>
            </a:rPr>
            <a:t>Single Imputation</a:t>
          </a:r>
        </a:p>
      </dsp:txBody>
      <dsp:txXfrm>
        <a:off x="25587" y="34916"/>
        <a:ext cx="2813149" cy="472986"/>
      </dsp:txXfrm>
    </dsp:sp>
    <dsp:sp modelId="{9C1644C3-0CF9-4AA5-BF6A-602AC9721758}">
      <dsp:nvSpPr>
        <dsp:cNvPr id="0" name=""/>
        <dsp:cNvSpPr/>
      </dsp:nvSpPr>
      <dsp:spPr>
        <a:xfrm>
          <a:off x="0" y="533489"/>
          <a:ext cx="2864323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42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2000" kern="1200" dirty="0"/>
            <a:t>Generates 1 value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2000" kern="1200" dirty="0"/>
            <a:t>Techniques include: </a:t>
          </a:r>
          <a:r>
            <a:rPr lang="en-GB" sz="2000" kern="1200" dirty="0"/>
            <a:t>mean, mode, </a:t>
          </a:r>
          <a:r>
            <a:rPr lang="en-GB" sz="2000" kern="1200" dirty="0" err="1"/>
            <a:t>median.hot</a:t>
          </a:r>
          <a:r>
            <a:rPr lang="en-GB" sz="2000" kern="1200" dirty="0"/>
            <a:t> deck, </a:t>
          </a:r>
          <a:r>
            <a:rPr lang="en-GB" sz="2000" kern="1200" dirty="0" err="1"/>
            <a:t>regresion</a:t>
          </a:r>
          <a:r>
            <a:rPr lang="en-GB" sz="2000" kern="1200" dirty="0"/>
            <a:t> </a:t>
          </a:r>
          <a:r>
            <a:rPr lang="en-PH" sz="2000" kern="1200" dirty="0"/>
            <a:t>  </a:t>
          </a:r>
        </a:p>
      </dsp:txBody>
      <dsp:txXfrm>
        <a:off x="0" y="533489"/>
        <a:ext cx="2864323" cy="1449000"/>
      </dsp:txXfrm>
    </dsp:sp>
    <dsp:sp modelId="{91DC16A2-7175-4261-8CA3-E80DBCB19942}">
      <dsp:nvSpPr>
        <dsp:cNvPr id="0" name=""/>
        <dsp:cNvSpPr/>
      </dsp:nvSpPr>
      <dsp:spPr>
        <a:xfrm>
          <a:off x="0" y="1982489"/>
          <a:ext cx="2864323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000" b="1" kern="1200" dirty="0">
              <a:solidFill>
                <a:schemeClr val="tx1"/>
              </a:solidFill>
            </a:rPr>
            <a:t>Multiple Imputation</a:t>
          </a:r>
        </a:p>
      </dsp:txBody>
      <dsp:txXfrm>
        <a:off x="25587" y="2008076"/>
        <a:ext cx="2813149" cy="472986"/>
      </dsp:txXfrm>
    </dsp:sp>
    <dsp:sp modelId="{D81DDB5C-D760-4E16-B64D-8205633395F3}">
      <dsp:nvSpPr>
        <dsp:cNvPr id="0" name=""/>
        <dsp:cNvSpPr/>
      </dsp:nvSpPr>
      <dsp:spPr>
        <a:xfrm>
          <a:off x="0" y="2506649"/>
          <a:ext cx="2864323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42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2000" kern="1200" dirty="0"/>
            <a:t>Generates more than 1 value </a:t>
          </a:r>
          <a:r>
            <a:rPr lang="en-PH" sz="2000" kern="1200" dirty="0">
              <a:sym typeface="Wingdings" panose="05000000000000000000" pitchFamily="2" charset="2"/>
            </a:rPr>
            <a:t> more accurate</a:t>
          </a:r>
          <a:r>
            <a:rPr lang="en-PH" sz="2000" kern="1200" dirty="0"/>
            <a:t>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2000" kern="1200" dirty="0"/>
            <a:t>Type example: multiple regression</a:t>
          </a:r>
        </a:p>
      </dsp:txBody>
      <dsp:txXfrm>
        <a:off x="0" y="2506649"/>
        <a:ext cx="2864323" cy="144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806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641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42555" y="1541664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3"/>
          <p:cNvSpPr txBox="1">
            <a:spLocks noGrp="1"/>
          </p:cNvSpPr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"/>
          <p:cNvSpPr txBox="1">
            <a:spLocks noGrp="1"/>
          </p:cNvSpPr>
          <p:nvPr>
            <p:ph type="subTitle" idx="1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4"/>
          <p:cNvGrpSpPr/>
          <p:nvPr/>
        </p:nvGrpSpPr>
        <p:grpSpPr>
          <a:xfrm>
            <a:off x="-175" y="0"/>
            <a:ext cx="9158125" cy="5149862"/>
            <a:chOff x="-175" y="0"/>
            <a:chExt cx="9158125" cy="5149862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78456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" name="Google Shape;193;p4"/>
            <p:cNvGrpSpPr/>
            <p:nvPr/>
          </p:nvGrpSpPr>
          <p:grpSpPr>
            <a:xfrm>
              <a:off x="-175" y="664293"/>
              <a:ext cx="318794" cy="653721"/>
              <a:chOff x="5385375" y="498300"/>
              <a:chExt cx="802200" cy="556500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" name="Google Shape;197;p4"/>
            <p:cNvSpPr/>
            <p:nvPr/>
          </p:nvSpPr>
          <p:spPr>
            <a:xfrm>
              <a:off x="666125" y="660475"/>
              <a:ext cx="666300" cy="66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9" name="Google Shape;199;p4"/>
            <p:cNvGrpSpPr/>
            <p:nvPr/>
          </p:nvGrpSpPr>
          <p:grpSpPr>
            <a:xfrm>
              <a:off x="8994728" y="670955"/>
              <a:ext cx="149289" cy="653721"/>
              <a:chOff x="5385375" y="498300"/>
              <a:chExt cx="802200" cy="556500"/>
            </a:xfrm>
          </p:grpSpPr>
          <p:sp>
            <p:nvSpPr>
              <p:cNvPr id="200" name="Google Shape;200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4"/>
            <p:cNvGrpSpPr/>
            <p:nvPr/>
          </p:nvGrpSpPr>
          <p:grpSpPr>
            <a:xfrm>
              <a:off x="7508545" y="3014000"/>
              <a:ext cx="666403" cy="1475799"/>
              <a:chOff x="7508545" y="664625"/>
              <a:chExt cx="666403" cy="1475799"/>
            </a:xfrm>
          </p:grpSpPr>
          <p:sp>
            <p:nvSpPr>
              <p:cNvPr id="204" name="Google Shape;204;p4"/>
              <p:cNvSpPr/>
              <p:nvPr/>
            </p:nvSpPr>
            <p:spPr>
              <a:xfrm>
                <a:off x="7508545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710872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913198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508545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710872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913198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508545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710872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913198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7508545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7710872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7913198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8115524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8115524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8115524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115549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7508545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7710872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7913198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7508545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7710872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7913198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7508545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7710872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7913198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7508545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7710872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7913198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8115524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8115524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8115524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8115549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4"/>
            <p:cNvGrpSpPr/>
            <p:nvPr/>
          </p:nvGrpSpPr>
          <p:grpSpPr>
            <a:xfrm>
              <a:off x="666070" y="4483438"/>
              <a:ext cx="666403" cy="666424"/>
              <a:chOff x="7996345" y="980275"/>
              <a:chExt cx="666403" cy="666424"/>
            </a:xfrm>
          </p:grpSpPr>
          <p:sp>
            <p:nvSpPr>
              <p:cNvPr id="237" name="Google Shape;237;p4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3" name="Google Shape;253;p4"/>
          <p:cNvSpPr txBox="1">
            <a:spLocks noGrp="1"/>
          </p:cNvSpPr>
          <p:nvPr>
            <p:ph type="body" idx="1"/>
          </p:nvPr>
        </p:nvSpPr>
        <p:spPr>
          <a:xfrm>
            <a:off x="1699000" y="660475"/>
            <a:ext cx="5045400" cy="38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▪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L="1371600" lvl="2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L="1828800" lvl="3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lvl="4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L="2743200" lvl="5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L="3200400" lvl="6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L="3657600" lvl="7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L="4114800" lvl="8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254" name="Google Shape;254;p4"/>
          <p:cNvSpPr txBox="1"/>
          <p:nvPr/>
        </p:nvSpPr>
        <p:spPr>
          <a:xfrm>
            <a:off x="666125" y="574543"/>
            <a:ext cx="6663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“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255" name="Google Shape;255;p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58" name="Google Shape;258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3" name="Google Shape;283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5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body" idx="1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322375" y="646500"/>
            <a:ext cx="44706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" name="Google Shape;293;p6"/>
          <p:cNvGrpSpPr/>
          <p:nvPr/>
        </p:nvGrpSpPr>
        <p:grpSpPr>
          <a:xfrm>
            <a:off x="-207" y="646493"/>
            <a:ext cx="155867" cy="653721"/>
            <a:chOff x="5385375" y="498300"/>
            <a:chExt cx="802200" cy="556500"/>
          </a:xfrm>
        </p:grpSpPr>
        <p:sp>
          <p:nvSpPr>
            <p:cNvPr id="294" name="Google Shape;294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6"/>
          <p:cNvGrpSpPr/>
          <p:nvPr/>
        </p:nvGrpSpPr>
        <p:grpSpPr>
          <a:xfrm>
            <a:off x="5434002" y="4483463"/>
            <a:ext cx="666347" cy="666373"/>
            <a:chOff x="7134700" y="414375"/>
            <a:chExt cx="501919" cy="501900"/>
          </a:xfrm>
        </p:grpSpPr>
        <p:sp>
          <p:nvSpPr>
            <p:cNvPr id="298" name="Google Shape;298;p6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6"/>
          <p:cNvGrpSpPr/>
          <p:nvPr/>
        </p:nvGrpSpPr>
        <p:grpSpPr>
          <a:xfrm rot="-5400000">
            <a:off x="8018100" y="-167410"/>
            <a:ext cx="318554" cy="653721"/>
            <a:chOff x="5385375" y="498300"/>
            <a:chExt cx="802200" cy="556500"/>
          </a:xfrm>
        </p:grpSpPr>
        <p:sp>
          <p:nvSpPr>
            <p:cNvPr id="315" name="Google Shape;315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6"/>
          <p:cNvSpPr txBox="1">
            <a:spLocks noGrp="1"/>
          </p:cNvSpPr>
          <p:nvPr>
            <p:ph type="title"/>
          </p:nvPr>
        </p:nvSpPr>
        <p:spPr>
          <a:xfrm>
            <a:off x="508700" y="646500"/>
            <a:ext cx="42843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9" name="Google Shape;319;p6"/>
          <p:cNvSpPr txBox="1">
            <a:spLocks noGrp="1"/>
          </p:cNvSpPr>
          <p:nvPr>
            <p:ph type="body" idx="1"/>
          </p:nvPr>
        </p:nvSpPr>
        <p:spPr>
          <a:xfrm>
            <a:off x="508700" y="1599700"/>
            <a:ext cx="42843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320" name="Google Shape;320;p6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3" name="Google Shape;323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4" name="Google Shape;354;p7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57" name="Google Shape;357;p8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" name="Google Shape;360;p8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61" name="Google Shape;361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" name="Google Shape;364;p8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65" name="Google Shape;365;p8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8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82" name="Google Shape;382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5" name="Google Shape;385;p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8"/>
          <p:cNvSpPr txBox="1">
            <a:spLocks noGrp="1"/>
          </p:cNvSpPr>
          <p:nvPr>
            <p:ph type="body" idx="1"/>
          </p:nvPr>
        </p:nvSpPr>
        <p:spPr>
          <a:xfrm>
            <a:off x="1165875" y="1599700"/>
            <a:ext cx="22572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>
            <a:endParaRPr/>
          </a:p>
        </p:txBody>
      </p:sp>
      <p:sp>
        <p:nvSpPr>
          <p:cNvPr id="387" name="Google Shape;387;p8"/>
          <p:cNvSpPr txBox="1">
            <a:spLocks noGrp="1"/>
          </p:cNvSpPr>
          <p:nvPr>
            <p:ph type="body" idx="2"/>
          </p:nvPr>
        </p:nvSpPr>
        <p:spPr>
          <a:xfrm>
            <a:off x="3706438" y="1599700"/>
            <a:ext cx="22572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>
            <a:endParaRPr/>
          </a:p>
        </p:txBody>
      </p:sp>
      <p:sp>
        <p:nvSpPr>
          <p:cNvPr id="388" name="Google Shape;388;p8"/>
          <p:cNvSpPr txBox="1">
            <a:spLocks noGrp="1"/>
          </p:cNvSpPr>
          <p:nvPr>
            <p:ph type="body" idx="3"/>
          </p:nvPr>
        </p:nvSpPr>
        <p:spPr>
          <a:xfrm>
            <a:off x="6247001" y="1599700"/>
            <a:ext cx="22572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>
            <a:endParaRPr/>
          </a:p>
        </p:txBody>
      </p:sp>
      <p:sp>
        <p:nvSpPr>
          <p:cNvPr id="389" name="Google Shape;389;p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9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92" name="Google Shape;392;p9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" name="Google Shape;395;p9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399;p9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" name="Google Shape;416;p9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17" name="Google Shape;417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9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2">
  <p:cSld name="BLANK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7" name="Google Shape;487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1" name="Google Shape;491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8" name="Google Shape;50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12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8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Wheatech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we choose yellow rust </a:t>
            </a:r>
            <a:endParaRPr dirty="0"/>
          </a:p>
        </p:txBody>
      </p:sp>
      <p:sp>
        <p:nvSpPr>
          <p:cNvPr id="523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“the crop Corona”, growing intensely the past 5 years as global warming worsened, which can ultimately destroy up to 100% of the crop.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615148" y="1981694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Phases of Model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PHASES OF MODEL</a:t>
            </a:r>
            <a:endParaRPr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1246650" y="1422319"/>
            <a:ext cx="6650700" cy="339433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1) Data Collection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2) Data Preprocessing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3) Correlation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4) Data Analysis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5) Splitting Data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6) Learning Model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PH" dirty="0"/>
              <a:t>7) Testing Model</a:t>
            </a:r>
            <a:endParaRPr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6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5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7BF2F471-AD7E-D96B-068F-5DDA6D14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84" y="0"/>
            <a:ext cx="3899416" cy="5143500"/>
          </a:xfrm>
          <a:prstGeom prst="rect">
            <a:avLst/>
          </a:prstGeom>
        </p:spPr>
      </p:pic>
      <p:sp>
        <p:nvSpPr>
          <p:cNvPr id="537" name="Google Shape;537;p16"/>
          <p:cNvSpPr txBox="1">
            <a:spLocks noGrp="1"/>
          </p:cNvSpPr>
          <p:nvPr>
            <p:ph type="subTitle" idx="4294967295"/>
          </p:nvPr>
        </p:nvSpPr>
        <p:spPr>
          <a:xfrm>
            <a:off x="4421600" y="1102915"/>
            <a:ext cx="4546554" cy="378617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  <a:t>Taken from 2 entities </a:t>
            </a:r>
          </a:p>
          <a:p>
            <a:pPr lvl="0" indent="-457200" algn="l" rtl="0">
              <a:spcBef>
                <a:spcPts val="600"/>
              </a:spcBef>
              <a:spcAft>
                <a:spcPts val="0"/>
              </a:spcAft>
              <a:buAutoNum type="arabicParenR"/>
            </a:pPr>
            <a:r>
              <a:rPr lang="en-GB" b="1" dirty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Agriculture Research Centre 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  <a:t>- types of wheat - injury degree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  <a:t> -area - year - month                                   </a:t>
            </a:r>
          </a:p>
          <a:p>
            <a:pPr lvl="0" indent="-457200" algn="l" rtl="0">
              <a:spcBef>
                <a:spcPts val="600"/>
              </a:spcBef>
              <a:spcAft>
                <a:spcPts val="0"/>
              </a:spcAft>
              <a:buAutoNum type="arabicParenR" startAt="2"/>
            </a:pPr>
            <a:r>
              <a:rPr lang="en-GB" b="1" dirty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Egyptian  Meteorological authority</a:t>
            </a:r>
            <a: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  <a:t>- temperature – wind velocity </a:t>
            </a:r>
            <a:b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</a:br>
            <a:r>
              <a:rPr lang="en-GB" dirty="0">
                <a:latin typeface="Barlow SemiBold"/>
                <a:ea typeface="Barlow SemiBold"/>
                <a:cs typeface="Barlow SemiBold"/>
                <a:sym typeface="Barlow SemiBold"/>
              </a:rPr>
              <a:t>- witness – sample size: 1854 row </a:t>
            </a:r>
            <a:endParaRPr b="1" dirty="0"/>
          </a:p>
        </p:txBody>
      </p:sp>
      <p:sp>
        <p:nvSpPr>
          <p:cNvPr id="536" name="Google Shape;536;p16"/>
          <p:cNvSpPr txBox="1">
            <a:spLocks noGrp="1"/>
          </p:cNvSpPr>
          <p:nvPr>
            <p:ph type="ctrTitle" idx="4294967295"/>
          </p:nvPr>
        </p:nvSpPr>
        <p:spPr>
          <a:xfrm>
            <a:off x="4421600" y="414487"/>
            <a:ext cx="4288800" cy="832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u="sng" dirty="0">
                <a:solidFill>
                  <a:schemeClr val="accent1"/>
                </a:solidFill>
              </a:rPr>
              <a:t>DATA COLLECTION</a:t>
            </a:r>
            <a:endParaRPr sz="4000" b="1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2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" name="Google Shape;537;p16">
            <a:extLst>
              <a:ext uri="{FF2B5EF4-FFF2-40B4-BE49-F238E27FC236}">
                <a16:creationId xmlns:a16="http://schemas.microsoft.com/office/drawing/2014/main" id="{23A0E0BB-5218-7688-A17D-628A42EBBBAD}"/>
              </a:ext>
            </a:extLst>
          </p:cNvPr>
          <p:cNvSpPr txBox="1">
            <a:spLocks/>
          </p:cNvSpPr>
          <p:nvPr/>
        </p:nvSpPr>
        <p:spPr>
          <a:xfrm>
            <a:off x="645945" y="1357321"/>
            <a:ext cx="5557786" cy="2428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-457200">
              <a:buFont typeface="Barlow Light"/>
              <a:buAutoNum type="arabicParenR"/>
            </a:pPr>
            <a:r>
              <a:rPr lang="en-GB" sz="2000" b="1" dirty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Missing Data</a:t>
            </a:r>
          </a:p>
          <a:p>
            <a:pPr marL="0" indent="0">
              <a:buFont typeface="Barlow Light"/>
              <a:buNone/>
            </a:pPr>
            <a: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  <a:t>- causes bias  </a:t>
            </a:r>
            <a:b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</a:br>
            <a: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  <a:t>- 2 ways to solve this problem:    </a:t>
            </a:r>
            <a:b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</a:br>
            <a: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  <a:t>A) delete (it can be used only if the missing is less than 10%)  </a:t>
            </a:r>
          </a:p>
          <a:p>
            <a:pPr marL="0" indent="0">
              <a:buFont typeface="Barlow Light"/>
              <a:buNone/>
            </a:pPr>
            <a: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  <a:t>B) impute (if missing is more than 10%)  </a:t>
            </a:r>
            <a:b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</a:br>
            <a:endParaRPr lang="en-GB" sz="2000" b="1" dirty="0"/>
          </a:p>
        </p:txBody>
      </p:sp>
      <p:sp>
        <p:nvSpPr>
          <p:cNvPr id="11" name="Google Shape;536;p16">
            <a:extLst>
              <a:ext uri="{FF2B5EF4-FFF2-40B4-BE49-F238E27FC236}">
                <a16:creationId xmlns:a16="http://schemas.microsoft.com/office/drawing/2014/main" id="{A9C92AC7-2CC5-9698-D2D4-388474997905}"/>
              </a:ext>
            </a:extLst>
          </p:cNvPr>
          <p:cNvSpPr txBox="1">
            <a:spLocks/>
          </p:cNvSpPr>
          <p:nvPr/>
        </p:nvSpPr>
        <p:spPr>
          <a:xfrm>
            <a:off x="468161" y="524821"/>
            <a:ext cx="4253477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en-PH" sz="3200" b="1" u="sng" dirty="0">
                <a:solidFill>
                  <a:schemeClr val="accent1"/>
                </a:solidFill>
              </a:rPr>
              <a:t>DATA PREPROCESSING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ED77AB2-CF10-9771-D3C5-65B5AF533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96990"/>
              </p:ext>
            </p:extLst>
          </p:nvPr>
        </p:nvGraphicFramePr>
        <p:xfrm>
          <a:off x="6135343" y="524821"/>
          <a:ext cx="2864323" cy="3964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CFC6C-1B4B-C0B9-D186-5FC497AB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9000" y="660475"/>
            <a:ext cx="5045400" cy="547002"/>
          </a:xfrm>
        </p:spPr>
        <p:txBody>
          <a:bodyPr/>
          <a:lstStyle/>
          <a:p>
            <a:endParaRPr lang="en-PH" dirty="0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96005CB4-D917-D2FA-4317-F08C3E8A79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0" t="1927" r="8242" b="3273"/>
          <a:stretch/>
        </p:blipFill>
        <p:spPr>
          <a:xfrm>
            <a:off x="851338" y="766598"/>
            <a:ext cx="7441324" cy="3610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6" name="Google Shape;537;p16">
            <a:extLst>
              <a:ext uri="{FF2B5EF4-FFF2-40B4-BE49-F238E27FC236}">
                <a16:creationId xmlns:a16="http://schemas.microsoft.com/office/drawing/2014/main" id="{27692E30-1EB1-656D-B965-622C495DF2B6}"/>
              </a:ext>
            </a:extLst>
          </p:cNvPr>
          <p:cNvSpPr txBox="1">
            <a:spLocks/>
          </p:cNvSpPr>
          <p:nvPr/>
        </p:nvSpPr>
        <p:spPr>
          <a:xfrm>
            <a:off x="1040083" y="1451915"/>
            <a:ext cx="7157986" cy="216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>
              <a:buFont typeface="Barlow Light"/>
              <a:buNone/>
            </a:pPr>
            <a:r>
              <a:rPr lang="en-GB" sz="2000" b="1" dirty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2) Data Transformation     </a:t>
            </a:r>
          </a:p>
          <a:p>
            <a:pPr marL="0" indent="0">
              <a:buFont typeface="Barlow Light"/>
              <a:buNone/>
            </a:pPr>
            <a: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  <a:t>2.1- discretization : convert data from numerical to categorical to decrease size of observations   </a:t>
            </a:r>
          </a:p>
          <a:p>
            <a:pPr marL="0" indent="0">
              <a:buFont typeface="Barlow Light"/>
              <a:buNone/>
            </a:pPr>
            <a:r>
              <a:rPr lang="en-GB" sz="2000" dirty="0">
                <a:latin typeface="Barlow SemiBold"/>
                <a:ea typeface="Barlow SemiBold"/>
                <a:cs typeface="Barlow SemiBold"/>
                <a:sym typeface="Barlow SemiBold"/>
              </a:rPr>
              <a:t>2.2- encoding : convert data from categorical to numerical</a:t>
            </a:r>
          </a:p>
        </p:txBody>
      </p:sp>
      <p:sp>
        <p:nvSpPr>
          <p:cNvPr id="7" name="Google Shape;536;p16">
            <a:extLst>
              <a:ext uri="{FF2B5EF4-FFF2-40B4-BE49-F238E27FC236}">
                <a16:creationId xmlns:a16="http://schemas.microsoft.com/office/drawing/2014/main" id="{1A2F36A7-BA4E-3F66-7495-190EBB9ECF36}"/>
              </a:ext>
            </a:extLst>
          </p:cNvPr>
          <p:cNvSpPr txBox="1">
            <a:spLocks/>
          </p:cNvSpPr>
          <p:nvPr/>
        </p:nvSpPr>
        <p:spPr>
          <a:xfrm>
            <a:off x="468161" y="524821"/>
            <a:ext cx="4253477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en-PH" sz="3200" b="1" u="sng" dirty="0">
                <a:solidFill>
                  <a:schemeClr val="accent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"/>
          <p:cNvSpPr txBox="1">
            <a:spLocks noGrp="1"/>
          </p:cNvSpPr>
          <p:nvPr>
            <p:ph type="title" idx="4294967295"/>
          </p:nvPr>
        </p:nvSpPr>
        <p:spPr>
          <a:xfrm>
            <a:off x="2159024" y="1751943"/>
            <a:ext cx="4825951" cy="163961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/>
              <a:t>How to find the “best” feature?</a:t>
            </a:r>
            <a:endParaRPr sz="4000" dirty="0"/>
          </a:p>
        </p:txBody>
      </p:sp>
      <p:sp>
        <p:nvSpPr>
          <p:cNvPr id="637" name="Google Shape;637;p26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9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Selection</a:t>
            </a:r>
            <a:endParaRPr dirty="0"/>
          </a:p>
        </p:txBody>
      </p:sp>
      <p:sp>
        <p:nvSpPr>
          <p:cNvPr id="609" name="Google Shape;609;p2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7" name="Google Shape;537;p16">
            <a:extLst>
              <a:ext uri="{FF2B5EF4-FFF2-40B4-BE49-F238E27FC236}">
                <a16:creationId xmlns:a16="http://schemas.microsoft.com/office/drawing/2014/main" id="{8F174378-480F-3FEE-FB1B-B7D8904A4367}"/>
              </a:ext>
            </a:extLst>
          </p:cNvPr>
          <p:cNvSpPr txBox="1">
            <a:spLocks/>
          </p:cNvSpPr>
          <p:nvPr/>
        </p:nvSpPr>
        <p:spPr>
          <a:xfrm>
            <a:off x="1040083" y="1451915"/>
            <a:ext cx="7157986" cy="104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>
              <a:buFont typeface="Barlow Light"/>
              <a:buNone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The best features are the ones that have a degree of correlation between each other.</a:t>
            </a:r>
            <a:endParaRPr lang="en-GB" sz="2000" dirty="0">
              <a:solidFill>
                <a:schemeClr val="tx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5F0777D5-AA74-6C35-AAD3-D497F2D41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396" y="1891861"/>
            <a:ext cx="3973793" cy="3157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8"/>
          <p:cNvSpPr txBox="1">
            <a:spLocks noGrp="1"/>
          </p:cNvSpPr>
          <p:nvPr>
            <p:ph type="ctrTitle" idx="4294967295"/>
          </p:nvPr>
        </p:nvSpPr>
        <p:spPr>
          <a:xfrm>
            <a:off x="874024" y="-120474"/>
            <a:ext cx="7183200" cy="76686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tx1"/>
                </a:solidFill>
              </a:rPr>
              <a:t>Data Analysis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662" name="Google Shape;662;p28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11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B252E869-BD26-3AF0-2B2F-32FDD931B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30" y="590681"/>
            <a:ext cx="3853980" cy="2155820"/>
          </a:xfrm>
          <a:prstGeom prst="rect">
            <a:avLst/>
          </a:prstGeom>
        </p:spPr>
      </p:pic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F1BB03BE-F55C-27A5-0F06-4942E029A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232" y="2461246"/>
            <a:ext cx="4052640" cy="2504405"/>
          </a:xfrm>
          <a:prstGeom prst="rect">
            <a:avLst/>
          </a:prstGeom>
        </p:spPr>
      </p:pic>
      <p:sp>
        <p:nvSpPr>
          <p:cNvPr id="16" name="Google Shape;537;p16">
            <a:extLst>
              <a:ext uri="{FF2B5EF4-FFF2-40B4-BE49-F238E27FC236}">
                <a16:creationId xmlns:a16="http://schemas.microsoft.com/office/drawing/2014/main" id="{541D1B2D-4E64-34AC-ED95-0E47A09167D5}"/>
              </a:ext>
            </a:extLst>
          </p:cNvPr>
          <p:cNvSpPr txBox="1">
            <a:spLocks/>
          </p:cNvSpPr>
          <p:nvPr/>
        </p:nvSpPr>
        <p:spPr>
          <a:xfrm>
            <a:off x="2071855" y="4013949"/>
            <a:ext cx="2702745" cy="95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2- what is the least affected area?</a:t>
            </a:r>
          </a:p>
        </p:txBody>
      </p:sp>
      <p:sp>
        <p:nvSpPr>
          <p:cNvPr id="17" name="Google Shape;537;p16">
            <a:extLst>
              <a:ext uri="{FF2B5EF4-FFF2-40B4-BE49-F238E27FC236}">
                <a16:creationId xmlns:a16="http://schemas.microsoft.com/office/drawing/2014/main" id="{92C22135-F07E-B4CD-A945-F57EF78A6CF4}"/>
              </a:ext>
            </a:extLst>
          </p:cNvPr>
          <p:cNvSpPr txBox="1">
            <a:spLocks/>
          </p:cNvSpPr>
          <p:nvPr/>
        </p:nvSpPr>
        <p:spPr>
          <a:xfrm>
            <a:off x="4247906" y="541155"/>
            <a:ext cx="2830812" cy="95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1- what is the most affected area?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8"/>
          <p:cNvSpPr txBox="1">
            <a:spLocks noGrp="1"/>
          </p:cNvSpPr>
          <p:nvPr>
            <p:ph type="ctrTitle" idx="4294967295"/>
          </p:nvPr>
        </p:nvSpPr>
        <p:spPr>
          <a:xfrm>
            <a:off x="874024" y="-120474"/>
            <a:ext cx="7183200" cy="76686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tx1"/>
                </a:solidFill>
              </a:rPr>
              <a:t>Data Analysis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662" name="Google Shape;662;p28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12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7163879B-B33E-4B1F-F6A2-579E38BD3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35" y="474299"/>
            <a:ext cx="4263167" cy="2094947"/>
          </a:xfrm>
          <a:prstGeom prst="rect">
            <a:avLst/>
          </a:prstGeom>
        </p:spPr>
      </p:pic>
      <p:sp>
        <p:nvSpPr>
          <p:cNvPr id="16" name="Google Shape;537;p16">
            <a:extLst>
              <a:ext uri="{FF2B5EF4-FFF2-40B4-BE49-F238E27FC236}">
                <a16:creationId xmlns:a16="http://schemas.microsoft.com/office/drawing/2014/main" id="{541D1B2D-4E64-34AC-ED95-0E47A09167D5}"/>
              </a:ext>
            </a:extLst>
          </p:cNvPr>
          <p:cNvSpPr txBox="1">
            <a:spLocks/>
          </p:cNvSpPr>
          <p:nvPr/>
        </p:nvSpPr>
        <p:spPr>
          <a:xfrm>
            <a:off x="1043244" y="3717499"/>
            <a:ext cx="3142890" cy="95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4- what is the most affected type in each area?</a:t>
            </a:r>
          </a:p>
        </p:txBody>
      </p:sp>
      <p:sp>
        <p:nvSpPr>
          <p:cNvPr id="17" name="Google Shape;537;p16">
            <a:extLst>
              <a:ext uri="{FF2B5EF4-FFF2-40B4-BE49-F238E27FC236}">
                <a16:creationId xmlns:a16="http://schemas.microsoft.com/office/drawing/2014/main" id="{92C22135-F07E-B4CD-A945-F57EF78A6CF4}"/>
              </a:ext>
            </a:extLst>
          </p:cNvPr>
          <p:cNvSpPr txBox="1">
            <a:spLocks/>
          </p:cNvSpPr>
          <p:nvPr/>
        </p:nvSpPr>
        <p:spPr>
          <a:xfrm>
            <a:off x="4973302" y="570070"/>
            <a:ext cx="3083922" cy="95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3- what is the most affected plant type in each year?</a:t>
            </a:r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9F5554A8-9241-2402-335C-374EE95E2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134" y="2692768"/>
            <a:ext cx="4486190" cy="232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33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SPLITTING DATA</a:t>
            </a:r>
            <a:endParaRPr dirty="0"/>
          </a:p>
        </p:txBody>
      </p:sp>
      <p:sp>
        <p:nvSpPr>
          <p:cNvPr id="589" name="Google Shape;589;p2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3" name="Google Shape;537;p16">
            <a:extLst>
              <a:ext uri="{FF2B5EF4-FFF2-40B4-BE49-F238E27FC236}">
                <a16:creationId xmlns:a16="http://schemas.microsoft.com/office/drawing/2014/main" id="{4AB6B43E-1E90-C4D4-2D96-158009D8379F}"/>
              </a:ext>
            </a:extLst>
          </p:cNvPr>
          <p:cNvSpPr txBox="1">
            <a:spLocks/>
          </p:cNvSpPr>
          <p:nvPr/>
        </p:nvSpPr>
        <p:spPr>
          <a:xfrm>
            <a:off x="843014" y="1357321"/>
            <a:ext cx="5557786" cy="161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Data is split into 2 parts:</a:t>
            </a:r>
          </a:p>
          <a:p>
            <a:pPr indent="-457200">
              <a:buAutoNum type="arabicParenR"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Used in training process</a:t>
            </a:r>
          </a:p>
          <a:p>
            <a:pPr indent="-457200">
              <a:buAutoNum type="arabicParenR"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Used in testing (testing model)</a:t>
            </a:r>
          </a:p>
        </p:txBody>
      </p:sp>
      <p:sp>
        <p:nvSpPr>
          <p:cNvPr id="14" name="Google Shape;537;p16">
            <a:extLst>
              <a:ext uri="{FF2B5EF4-FFF2-40B4-BE49-F238E27FC236}">
                <a16:creationId xmlns:a16="http://schemas.microsoft.com/office/drawing/2014/main" id="{524E1DEC-D3E1-F58F-8C04-682F87A245D5}"/>
              </a:ext>
            </a:extLst>
          </p:cNvPr>
          <p:cNvSpPr txBox="1">
            <a:spLocks/>
          </p:cNvSpPr>
          <p:nvPr/>
        </p:nvSpPr>
        <p:spPr>
          <a:xfrm>
            <a:off x="3163173" y="3094156"/>
            <a:ext cx="5557786" cy="161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Methods:</a:t>
            </a:r>
          </a:p>
          <a:p>
            <a:pPr indent="-457200">
              <a:buAutoNum type="arabicParenR"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Hold out (Training: 70/80%, Testing 20/30%)</a:t>
            </a:r>
          </a:p>
          <a:p>
            <a:pPr indent="-457200">
              <a:buAutoNum type="arabicParenR"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K Fold (All data is used in training and testing)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6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14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36" name="Google Shape;536;p16"/>
          <p:cNvSpPr txBox="1">
            <a:spLocks noGrp="1"/>
          </p:cNvSpPr>
          <p:nvPr>
            <p:ph type="ctrTitle" idx="4294967295"/>
          </p:nvPr>
        </p:nvSpPr>
        <p:spPr>
          <a:xfrm>
            <a:off x="741173" y="0"/>
            <a:ext cx="4288800" cy="832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u="sng" dirty="0">
                <a:solidFill>
                  <a:schemeClr val="accent1"/>
                </a:solidFill>
              </a:rPr>
              <a:t>Learning Model</a:t>
            </a:r>
            <a:endParaRPr sz="4000" b="1" u="sng" dirty="0">
              <a:solidFill>
                <a:schemeClr val="accent1"/>
              </a:solidFill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79AB2753-DC0B-B411-6254-4EE97E6E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63" y="1103586"/>
            <a:ext cx="7660874" cy="4039914"/>
          </a:xfrm>
          <a:prstGeom prst="rect">
            <a:avLst/>
          </a:prstGeom>
        </p:spPr>
      </p:pic>
      <p:sp>
        <p:nvSpPr>
          <p:cNvPr id="9" name="Google Shape;537;p16">
            <a:extLst>
              <a:ext uri="{FF2B5EF4-FFF2-40B4-BE49-F238E27FC236}">
                <a16:creationId xmlns:a16="http://schemas.microsoft.com/office/drawing/2014/main" id="{5124C71F-4058-C445-379C-F8590CB26B34}"/>
              </a:ext>
            </a:extLst>
          </p:cNvPr>
          <p:cNvSpPr txBox="1">
            <a:spLocks/>
          </p:cNvSpPr>
          <p:nvPr/>
        </p:nvSpPr>
        <p:spPr>
          <a:xfrm>
            <a:off x="1371515" y="639992"/>
            <a:ext cx="7316916" cy="463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>
              <a:buFont typeface="Barlow Light"/>
              <a:buNone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We input the training data in the algorithm to extract knowledge.</a:t>
            </a:r>
            <a:endParaRPr lang="en-GB" sz="2000" dirty="0">
              <a:solidFill>
                <a:schemeClr val="tx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9054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9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0" name="Google Shape;536;p16">
            <a:extLst>
              <a:ext uri="{FF2B5EF4-FFF2-40B4-BE49-F238E27FC236}">
                <a16:creationId xmlns:a16="http://schemas.microsoft.com/office/drawing/2014/main" id="{B5CE8F69-3CB2-AF26-226B-0C0C3376D4DA}"/>
              </a:ext>
            </a:extLst>
          </p:cNvPr>
          <p:cNvSpPr txBox="1">
            <a:spLocks/>
          </p:cNvSpPr>
          <p:nvPr/>
        </p:nvSpPr>
        <p:spPr>
          <a:xfrm>
            <a:off x="717525" y="536027"/>
            <a:ext cx="42888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en-PH" sz="4000" b="1" u="sng" dirty="0">
                <a:solidFill>
                  <a:schemeClr val="accent1"/>
                </a:solidFill>
              </a:rPr>
              <a:t>Testing Model</a:t>
            </a:r>
          </a:p>
        </p:txBody>
      </p:sp>
      <p:sp>
        <p:nvSpPr>
          <p:cNvPr id="31" name="Google Shape;537;p16">
            <a:extLst>
              <a:ext uri="{FF2B5EF4-FFF2-40B4-BE49-F238E27FC236}">
                <a16:creationId xmlns:a16="http://schemas.microsoft.com/office/drawing/2014/main" id="{C49ACFCE-86E7-7656-7FDF-6B3674B69DA5}"/>
              </a:ext>
            </a:extLst>
          </p:cNvPr>
          <p:cNvSpPr txBox="1">
            <a:spLocks/>
          </p:cNvSpPr>
          <p:nvPr/>
        </p:nvSpPr>
        <p:spPr>
          <a:xfrm>
            <a:off x="1347867" y="1231198"/>
            <a:ext cx="7316916" cy="77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>
              <a:buFont typeface="Barlow Light"/>
              <a:buNone/>
            </a:pPr>
            <a:r>
              <a:rPr lang="en-GB" sz="2000" b="1" dirty="0">
                <a:solidFill>
                  <a:schemeClr val="tx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We convert knowledge into rules that applied to predict the test data and we evaluate model according to it's accuracy</a:t>
            </a:r>
            <a:endParaRPr lang="en-GB" sz="2000" dirty="0">
              <a:solidFill>
                <a:schemeClr val="tx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453AA86-D1BF-6EDD-AF5A-D37C86F57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00" y="2002220"/>
            <a:ext cx="8277983" cy="30725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753" name="Google Shape;753;p35"/>
          <p:cNvSpPr txBox="1">
            <a:spLocks noGrp="1"/>
          </p:cNvSpPr>
          <p:nvPr>
            <p:ph type="ctrTitle" idx="4294967295"/>
          </p:nvPr>
        </p:nvSpPr>
        <p:spPr>
          <a:xfrm>
            <a:off x="2427600" y="2155500"/>
            <a:ext cx="4288800" cy="832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1"/>
                </a:solidFill>
              </a:rPr>
              <a:t>Thank You!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754" name="Google Shape;754;p35"/>
          <p:cNvSpPr txBox="1">
            <a:spLocks noGrp="1"/>
          </p:cNvSpPr>
          <p:nvPr>
            <p:ph type="subTitle" idx="4294967295"/>
          </p:nvPr>
        </p:nvSpPr>
        <p:spPr>
          <a:xfrm>
            <a:off x="5368198" y="2998631"/>
            <a:ext cx="2183484" cy="5081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Any questions?</a:t>
            </a:r>
            <a:endParaRPr dirty="0"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6" name="Google Shape;151;p27">
            <a:extLst>
              <a:ext uri="{FF2B5EF4-FFF2-40B4-BE49-F238E27FC236}">
                <a16:creationId xmlns:a16="http://schemas.microsoft.com/office/drawing/2014/main" id="{92B6CCA4-3037-7087-DB7C-5AC0DCDFB6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0589" y="313093"/>
            <a:ext cx="130991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387</Words>
  <Application>Microsoft Office PowerPoint</Application>
  <PresentationFormat>On-screen Show (16:9)</PresentationFormat>
  <Paragraphs>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Barlow Light</vt:lpstr>
      <vt:lpstr>Barlow SemiBold</vt:lpstr>
      <vt:lpstr>Arial</vt:lpstr>
      <vt:lpstr>Wingdings</vt:lpstr>
      <vt:lpstr>Lodovico template</vt:lpstr>
      <vt:lpstr>Wheatech</vt:lpstr>
      <vt:lpstr>Why we choose yellow rust </vt:lpstr>
      <vt:lpstr>1. Phases of Model</vt:lpstr>
      <vt:lpstr>PHASES OF MODEL</vt:lpstr>
      <vt:lpstr>DATA COLLECTION</vt:lpstr>
      <vt:lpstr>PowerPoint Presentation</vt:lpstr>
      <vt:lpstr>PowerPoint Presentation</vt:lpstr>
      <vt:lpstr>PowerPoint Presentation</vt:lpstr>
      <vt:lpstr>How to find the “best” feature?</vt:lpstr>
      <vt:lpstr>Feature Selection</vt:lpstr>
      <vt:lpstr>Data Analysis</vt:lpstr>
      <vt:lpstr>Data Analysis</vt:lpstr>
      <vt:lpstr>SPLITTING DATA</vt:lpstr>
      <vt:lpstr>Learning Model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Ola Abouelfetouh</dc:creator>
  <cp:lastModifiedBy>ahmed khaled mohamed sayed elnager</cp:lastModifiedBy>
  <cp:revision>14</cp:revision>
  <dcterms:modified xsi:type="dcterms:W3CDTF">2022-07-25T07:28:25Z</dcterms:modified>
</cp:coreProperties>
</file>