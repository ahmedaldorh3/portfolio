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0" r:id="rId4"/>
    <p:sldId id="274" r:id="rId5"/>
    <p:sldId id="272" r:id="rId6"/>
    <p:sldId id="273" r:id="rId7"/>
    <p:sldId id="271" r:id="rId8"/>
  </p:sldIdLst>
  <p:sldSz cx="18288000" cy="10287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Poppins" panose="00000500000000000000" pitchFamily="2" charset="0"/>
      <p:regular r:id="rId13"/>
      <p:bold r:id="rId14"/>
      <p:italic r:id="rId15"/>
      <p:boldItalic r:id="rId16"/>
    </p:embeddedFont>
    <p:embeddedFont>
      <p:font typeface="Poppins Bold" panose="00000800000000000000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4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svg"/><Relationship Id="rId7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6800" y="65984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-381000" y="52311"/>
            <a:ext cx="2993353" cy="870896"/>
            <a:chOff x="0" y="0"/>
            <a:chExt cx="2269857" cy="660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69857" cy="660400"/>
            </a:xfrm>
            <a:custGeom>
              <a:avLst/>
              <a:gdLst/>
              <a:ahLst/>
              <a:cxnLst/>
              <a:rect l="l" t="t" r="r" b="b"/>
              <a:pathLst>
                <a:path w="2269857" h="660400">
                  <a:moveTo>
                    <a:pt x="2145397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145397" y="0"/>
                  </a:lnTo>
                  <a:cubicBezTo>
                    <a:pt x="2213977" y="0"/>
                    <a:pt x="2269857" y="55880"/>
                    <a:pt x="2269857" y="124460"/>
                  </a:cubicBezTo>
                  <a:lnTo>
                    <a:pt x="2269857" y="535940"/>
                  </a:lnTo>
                  <a:cubicBezTo>
                    <a:pt x="2269857" y="604520"/>
                    <a:pt x="2213977" y="660400"/>
                    <a:pt x="2145397" y="660400"/>
                  </a:cubicBezTo>
                  <a:close/>
                </a:path>
              </a:pathLst>
            </a:custGeom>
            <a:solidFill>
              <a:srgbClr val="191B1A">
                <a:alpha val="8000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2352607" y="4552079"/>
            <a:ext cx="16473833" cy="1106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292"/>
              </a:lnSpc>
            </a:pPr>
            <a:r>
              <a:rPr lang="en-US" sz="6797" dirty="0">
                <a:solidFill>
                  <a:srgbClr val="FFFFFF"/>
                </a:solidFill>
                <a:latin typeface="Poppins"/>
              </a:rPr>
              <a:t>PRESENTATION OF DASHBOARD</a:t>
            </a:r>
          </a:p>
        </p:txBody>
      </p:sp>
      <p:pic>
        <p:nvPicPr>
          <p:cNvPr id="12" name="Picture 11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30460930-755A-79A0-C3F9-374C6EDFD4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1512498"/>
            <a:ext cx="10162315" cy="21848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82154" y="8370400"/>
            <a:ext cx="1652447" cy="165244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846004" y="2556545"/>
            <a:ext cx="1058344" cy="1058344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916779" y="2741865"/>
            <a:ext cx="91679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FFFF"/>
                </a:solidFill>
                <a:latin typeface="Poppins Bold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44726" y="2489870"/>
            <a:ext cx="4875522" cy="439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Poppins Bold"/>
              </a:rPr>
              <a:t>Explanation of task 1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038446" y="2556545"/>
            <a:ext cx="1058344" cy="1058344"/>
            <a:chOff x="0" y="0"/>
            <a:chExt cx="1913890" cy="19138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109221" y="2741865"/>
            <a:ext cx="91679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FFFF"/>
                </a:solidFill>
                <a:latin typeface="Poppins Bold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01" y="2489870"/>
            <a:ext cx="4916746" cy="439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Poppins Bold"/>
              </a:rPr>
              <a:t>Recommendation For task 1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846004" y="4952744"/>
            <a:ext cx="1058344" cy="1058344"/>
            <a:chOff x="0" y="0"/>
            <a:chExt cx="1913890" cy="19138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916779" y="5138064"/>
            <a:ext cx="91679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FFFF"/>
                </a:solidFill>
                <a:latin typeface="Poppins Bold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44726" y="4886069"/>
            <a:ext cx="4875522" cy="439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Poppins Bold"/>
              </a:rPr>
              <a:t>Showing dashboards 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038446" y="4952744"/>
            <a:ext cx="1058344" cy="1058344"/>
            <a:chOff x="0" y="0"/>
            <a:chExt cx="1913890" cy="191389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109221" y="5138064"/>
            <a:ext cx="91679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FFFF"/>
                </a:solidFill>
                <a:latin typeface="Poppins Bold"/>
              </a:rPr>
              <a:t>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537167" y="4886069"/>
            <a:ext cx="5303033" cy="439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Poppins Bold"/>
              </a:rPr>
              <a:t>Recommendations for task 2</a:t>
            </a:r>
          </a:p>
        </p:txBody>
      </p:sp>
      <p:pic>
        <p:nvPicPr>
          <p:cNvPr id="22" name="Picture 21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D41D65CD-BEC8-10E5-17AA-31D8EF10B8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427" y="252477"/>
            <a:ext cx="3589619" cy="7717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490202" y="237409"/>
            <a:ext cx="10187780" cy="8418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09"/>
              </a:lnSpc>
            </a:pPr>
            <a:r>
              <a:rPr lang="en-US" sz="5499" dirty="0">
                <a:solidFill>
                  <a:srgbClr val="FFFFFF"/>
                </a:solidFill>
                <a:latin typeface="Poppins"/>
              </a:rPr>
              <a:t>Recommendations for task 1</a:t>
            </a:r>
          </a:p>
        </p:txBody>
      </p:sp>
      <p:pic>
        <p:nvPicPr>
          <p:cNvPr id="13" name="Picture 12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38E50724-59F6-3BA1-FCFD-A667C128FA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427" y="252477"/>
            <a:ext cx="3589619" cy="771768"/>
          </a:xfrm>
          <a:prstGeom prst="rect">
            <a:avLst/>
          </a:prstGeom>
        </p:spPr>
      </p:pic>
      <p:sp>
        <p:nvSpPr>
          <p:cNvPr id="14" name="Freeform 10">
            <a:extLst>
              <a:ext uri="{FF2B5EF4-FFF2-40B4-BE49-F238E27FC236}">
                <a16:creationId xmlns:a16="http://schemas.microsoft.com/office/drawing/2014/main" id="{6630160E-5317-7E35-75C5-5D38A839E0AF}"/>
              </a:ext>
            </a:extLst>
          </p:cNvPr>
          <p:cNvSpPr/>
          <p:nvPr/>
        </p:nvSpPr>
        <p:spPr>
          <a:xfrm>
            <a:off x="14318683" y="2681147"/>
            <a:ext cx="3276410" cy="4114800"/>
          </a:xfrm>
          <a:custGeom>
            <a:avLst/>
            <a:gdLst/>
            <a:ahLst/>
            <a:cxnLst/>
            <a:rect l="l" t="t" r="r" b="b"/>
            <a:pathLst>
              <a:path w="3276410" h="4114800">
                <a:moveTo>
                  <a:pt x="0" y="0"/>
                </a:moveTo>
                <a:lnTo>
                  <a:pt x="3276409" y="0"/>
                </a:lnTo>
                <a:lnTo>
                  <a:pt x="32764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7DCF74-423F-DD3A-7791-7347A9AB73CC}"/>
              </a:ext>
            </a:extLst>
          </p:cNvPr>
          <p:cNvSpPr txBox="1"/>
          <p:nvPr/>
        </p:nvSpPr>
        <p:spPr>
          <a:xfrm>
            <a:off x="1062155" y="1790700"/>
            <a:ext cx="13016705" cy="2378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Poppins Bold"/>
              </a:rPr>
              <a:t>1- Cost reduction : </a:t>
            </a:r>
          </a:p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Poppins Bold"/>
              </a:rPr>
              <a:t> when we apply Bogo will decrease cost and that by applying Bogo on large </a:t>
            </a:r>
          </a:p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Poppins Bold"/>
              </a:rPr>
              <a:t>Items only so I think cost will decrease with 1 pound as example.</a:t>
            </a:r>
          </a:p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Poppins Bold"/>
              </a:rPr>
              <a:t>(ex: when someone buy large coffee get medium coffee free)</a:t>
            </a:r>
          </a:p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Poppins Bold"/>
              </a:rPr>
              <a:t> </a:t>
            </a:r>
          </a:p>
        </p:txBody>
      </p:sp>
      <p:graphicFrame>
        <p:nvGraphicFramePr>
          <p:cNvPr id="18" name="Table 18">
            <a:extLst>
              <a:ext uri="{FF2B5EF4-FFF2-40B4-BE49-F238E27FC236}">
                <a16:creationId xmlns:a16="http://schemas.microsoft.com/office/drawing/2014/main" id="{3D26A205-6D5F-1820-443A-370362FE42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076876"/>
              </p:ext>
            </p:extLst>
          </p:nvPr>
        </p:nvGraphicFramePr>
        <p:xfrm>
          <a:off x="310001" y="5545280"/>
          <a:ext cx="14396599" cy="3457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0918">
                  <a:extLst>
                    <a:ext uri="{9D8B030D-6E8A-4147-A177-3AD203B41FA5}">
                      <a16:colId xmlns:a16="http://schemas.microsoft.com/office/drawing/2014/main" val="879768595"/>
                    </a:ext>
                  </a:extLst>
                </a:gridCol>
                <a:gridCol w="5276829">
                  <a:extLst>
                    <a:ext uri="{9D8B030D-6E8A-4147-A177-3AD203B41FA5}">
                      <a16:colId xmlns:a16="http://schemas.microsoft.com/office/drawing/2014/main" val="167427330"/>
                    </a:ext>
                  </a:extLst>
                </a:gridCol>
                <a:gridCol w="4628852">
                  <a:extLst>
                    <a:ext uri="{9D8B030D-6E8A-4147-A177-3AD203B41FA5}">
                      <a16:colId xmlns:a16="http://schemas.microsoft.com/office/drawing/2014/main" val="472946683"/>
                    </a:ext>
                  </a:extLst>
                </a:gridCol>
              </a:tblGrid>
              <a:tr h="3955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Before Recommendation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After Recommendation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197951"/>
                  </a:ext>
                </a:extLst>
              </a:tr>
              <a:tr h="63882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Sales of Bogo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0.4*396,561= 158,624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0.4*396,561= 158,624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252407"/>
                  </a:ext>
                </a:extLst>
              </a:tr>
              <a:tr h="56839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Sales of Regular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0.6*396,561= 237,937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0.6*396,561= 237,937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990086"/>
                  </a:ext>
                </a:extLst>
              </a:tr>
              <a:tr h="53242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Gross Profit margin of Bogo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0.6*158,624=95,174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0.63*158,624=99,933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442362"/>
                  </a:ext>
                </a:extLst>
              </a:tr>
              <a:tr h="68265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Gross Profit margin of Regular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(0.7*237,937*0.8)+(0.3*237,937*0.5)=168,935</a:t>
                      </a:r>
                    </a:p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(0.7*237,937*0.8)+(0.3*237,937*0.5)=168,935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661148"/>
                  </a:ext>
                </a:extLst>
              </a:tr>
              <a:tr h="51421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Total Gross Profit margin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168,935+95,174=264,109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168,935+99,933=268,868</a:t>
                      </a:r>
                    </a:p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86585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D1B9DB1-AB53-CF17-5184-F24E99E47D0E}"/>
              </a:ext>
            </a:extLst>
          </p:cNvPr>
          <p:cNvSpPr txBox="1"/>
          <p:nvPr/>
        </p:nvSpPr>
        <p:spPr>
          <a:xfrm>
            <a:off x="1115156" y="4611101"/>
            <a:ext cx="7239000" cy="492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599" dirty="0">
                <a:solidFill>
                  <a:srgbClr val="FFFFFF"/>
                </a:solidFill>
                <a:latin typeface="Poppins Bold"/>
              </a:rPr>
              <a:t>Take sales of May as example = 396,561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490202" y="237409"/>
            <a:ext cx="10187780" cy="8418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09"/>
              </a:lnSpc>
            </a:pPr>
            <a:r>
              <a:rPr lang="en-US" sz="5499" dirty="0">
                <a:solidFill>
                  <a:srgbClr val="FFFFFF"/>
                </a:solidFill>
                <a:latin typeface="Poppins"/>
              </a:rPr>
              <a:t>Recommendations for task 1</a:t>
            </a:r>
          </a:p>
        </p:txBody>
      </p:sp>
      <p:pic>
        <p:nvPicPr>
          <p:cNvPr id="13" name="Picture 12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38E50724-59F6-3BA1-FCFD-A667C128FA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427" y="252477"/>
            <a:ext cx="3589619" cy="771768"/>
          </a:xfrm>
          <a:prstGeom prst="rect">
            <a:avLst/>
          </a:prstGeom>
        </p:spPr>
      </p:pic>
      <p:sp>
        <p:nvSpPr>
          <p:cNvPr id="14" name="Freeform 10">
            <a:extLst>
              <a:ext uri="{FF2B5EF4-FFF2-40B4-BE49-F238E27FC236}">
                <a16:creationId xmlns:a16="http://schemas.microsoft.com/office/drawing/2014/main" id="{6630160E-5317-7E35-75C5-5D38A839E0AF}"/>
              </a:ext>
            </a:extLst>
          </p:cNvPr>
          <p:cNvSpPr/>
          <p:nvPr/>
        </p:nvSpPr>
        <p:spPr>
          <a:xfrm>
            <a:off x="14318683" y="2681147"/>
            <a:ext cx="3276410" cy="4114800"/>
          </a:xfrm>
          <a:custGeom>
            <a:avLst/>
            <a:gdLst/>
            <a:ahLst/>
            <a:cxnLst/>
            <a:rect l="l" t="t" r="r" b="b"/>
            <a:pathLst>
              <a:path w="3276410" h="4114800">
                <a:moveTo>
                  <a:pt x="0" y="0"/>
                </a:moveTo>
                <a:lnTo>
                  <a:pt x="3276409" y="0"/>
                </a:lnTo>
                <a:lnTo>
                  <a:pt x="32764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7DCF74-423F-DD3A-7791-7347A9AB73CC}"/>
              </a:ext>
            </a:extLst>
          </p:cNvPr>
          <p:cNvSpPr txBox="1"/>
          <p:nvPr/>
        </p:nvSpPr>
        <p:spPr>
          <a:xfrm>
            <a:off x="1062155" y="1790700"/>
            <a:ext cx="12109405" cy="2378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Poppins Bold"/>
              </a:rPr>
              <a:t>2- Low cost sale  : </a:t>
            </a:r>
          </a:p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Poppins Bold"/>
              </a:rPr>
              <a:t>We can do something like many brands that buy one and get one free </a:t>
            </a:r>
          </a:p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Poppins Bold"/>
              </a:rPr>
              <a:t>With low cost but this cost don’t exceed 8% to be efficient. </a:t>
            </a:r>
          </a:p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Poppins Bold"/>
              </a:rPr>
              <a:t>(ex: when someone buy Coffee and get another one with One pound )</a:t>
            </a:r>
          </a:p>
          <a:p>
            <a:pPr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FFFFFF"/>
                </a:solidFill>
                <a:latin typeface="Poppins Bold"/>
              </a:rPr>
              <a:t> </a:t>
            </a:r>
          </a:p>
        </p:txBody>
      </p:sp>
      <p:graphicFrame>
        <p:nvGraphicFramePr>
          <p:cNvPr id="18" name="Table 18">
            <a:extLst>
              <a:ext uri="{FF2B5EF4-FFF2-40B4-BE49-F238E27FC236}">
                <a16:creationId xmlns:a16="http://schemas.microsoft.com/office/drawing/2014/main" id="{3D26A205-6D5F-1820-443A-370362FE42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055007"/>
              </p:ext>
            </p:extLst>
          </p:nvPr>
        </p:nvGraphicFramePr>
        <p:xfrm>
          <a:off x="310001" y="5600700"/>
          <a:ext cx="14396599" cy="33022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0918">
                  <a:extLst>
                    <a:ext uri="{9D8B030D-6E8A-4147-A177-3AD203B41FA5}">
                      <a16:colId xmlns:a16="http://schemas.microsoft.com/office/drawing/2014/main" val="879768595"/>
                    </a:ext>
                  </a:extLst>
                </a:gridCol>
                <a:gridCol w="5276829">
                  <a:extLst>
                    <a:ext uri="{9D8B030D-6E8A-4147-A177-3AD203B41FA5}">
                      <a16:colId xmlns:a16="http://schemas.microsoft.com/office/drawing/2014/main" val="167427330"/>
                    </a:ext>
                  </a:extLst>
                </a:gridCol>
                <a:gridCol w="4628852">
                  <a:extLst>
                    <a:ext uri="{9D8B030D-6E8A-4147-A177-3AD203B41FA5}">
                      <a16:colId xmlns:a16="http://schemas.microsoft.com/office/drawing/2014/main" val="472946683"/>
                    </a:ext>
                  </a:extLst>
                </a:gridCol>
              </a:tblGrid>
              <a:tr h="3400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Before Recommendation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After Recommendation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197951"/>
                  </a:ext>
                </a:extLst>
              </a:tr>
              <a:tr h="63882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Sales of Bogo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0.4*396,561= 158,624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0.4*396,561= 158,624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252407"/>
                  </a:ext>
                </a:extLst>
              </a:tr>
              <a:tr h="56839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Sales of Regular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0.6*396,561= 237,937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0.6*396,561= 237,937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990086"/>
                  </a:ext>
                </a:extLst>
              </a:tr>
              <a:tr h="53242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Gross Profit margin of Bogo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0.6*158,624=95,174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0.63*158,624=99,933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442362"/>
                  </a:ext>
                </a:extLst>
              </a:tr>
              <a:tr h="68265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Gross Profit margin of Regular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(0.7*237,937*0.8)+(0.3*237,937*0.5)=168,935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(0.7*237,937*0.8)+(0.3*237,937*0.5)=168,935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661148"/>
                  </a:ext>
                </a:extLst>
              </a:tr>
              <a:tr h="51421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Total Gross Profit margin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168,935+95,174=264,109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168,935+99,933=268,868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86585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D1B9DB1-AB53-CF17-5184-F24E99E47D0E}"/>
              </a:ext>
            </a:extLst>
          </p:cNvPr>
          <p:cNvSpPr txBox="1"/>
          <p:nvPr/>
        </p:nvSpPr>
        <p:spPr>
          <a:xfrm>
            <a:off x="1115156" y="4611101"/>
            <a:ext cx="7239000" cy="492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599" dirty="0">
                <a:solidFill>
                  <a:srgbClr val="FFFFFF"/>
                </a:solidFill>
                <a:latin typeface="Poppins Bold"/>
              </a:rPr>
              <a:t>Take sales of May as example = 396,561</a:t>
            </a:r>
          </a:p>
        </p:txBody>
      </p:sp>
    </p:spTree>
    <p:extLst>
      <p:ext uri="{BB962C8B-B14F-4D97-AF65-F5344CB8AC3E}">
        <p14:creationId xmlns:p14="http://schemas.microsoft.com/office/powerpoint/2010/main" val="760680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3505976" y="4231058"/>
            <a:ext cx="5027242" cy="5027242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00000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124200" y="3695700"/>
            <a:ext cx="2578808" cy="2607719"/>
            <a:chOff x="0" y="0"/>
            <a:chExt cx="6350000" cy="6350000"/>
          </a:xfrm>
        </p:grpSpPr>
        <p:sp>
          <p:nvSpPr>
            <p:cNvPr id="9" name="Freeform 9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841368" y="4686300"/>
            <a:ext cx="12456032" cy="9603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09"/>
              </a:lnSpc>
            </a:pPr>
            <a:r>
              <a:rPr lang="en-US" sz="8800" dirty="0">
                <a:solidFill>
                  <a:srgbClr val="FFFFFF"/>
                </a:solidFill>
                <a:latin typeface="Poppins"/>
              </a:rPr>
              <a:t>Showing Dashboard</a:t>
            </a:r>
          </a:p>
        </p:txBody>
      </p:sp>
      <p:pic>
        <p:nvPicPr>
          <p:cNvPr id="14" name="Picture 1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FF63DAB6-9907-0AA1-1063-736D6C71F7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427" y="252477"/>
            <a:ext cx="3589619" cy="77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402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5105400" y="3025312"/>
            <a:ext cx="10187780" cy="8418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09"/>
              </a:lnSpc>
            </a:pPr>
            <a:r>
              <a:rPr lang="en-US" sz="5499" dirty="0">
                <a:solidFill>
                  <a:srgbClr val="FFFFFF"/>
                </a:solidFill>
                <a:latin typeface="Poppins"/>
              </a:rPr>
              <a:t>Recommendations for task 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81600" y="4305300"/>
            <a:ext cx="8804984" cy="143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79"/>
              </a:lnSpc>
              <a:spcBef>
                <a:spcPct val="0"/>
              </a:spcBef>
            </a:pPr>
            <a:r>
              <a:rPr lang="en-US" sz="2699" dirty="0">
                <a:solidFill>
                  <a:srgbClr val="FFFFFF"/>
                </a:solidFill>
                <a:latin typeface="Poppins"/>
              </a:rPr>
              <a:t>1- Re-division of branches.</a:t>
            </a:r>
          </a:p>
          <a:p>
            <a:pPr>
              <a:lnSpc>
                <a:spcPts val="3779"/>
              </a:lnSpc>
              <a:spcBef>
                <a:spcPct val="0"/>
              </a:spcBef>
            </a:pPr>
            <a:endParaRPr lang="en-US" sz="2699" dirty="0">
              <a:solidFill>
                <a:srgbClr val="FFFFFF"/>
              </a:solidFill>
              <a:latin typeface="Poppins"/>
            </a:endParaRPr>
          </a:p>
          <a:p>
            <a:pPr>
              <a:lnSpc>
                <a:spcPts val="3779"/>
              </a:lnSpc>
              <a:spcBef>
                <a:spcPct val="0"/>
              </a:spcBef>
            </a:pPr>
            <a:r>
              <a:rPr lang="en-US" sz="2699" dirty="0">
                <a:solidFill>
                  <a:srgbClr val="FFFFFF"/>
                </a:solidFill>
                <a:latin typeface="Poppins"/>
              </a:rPr>
              <a:t> </a:t>
            </a:r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6630160E-5317-7E35-75C5-5D38A839E0AF}"/>
              </a:ext>
            </a:extLst>
          </p:cNvPr>
          <p:cNvSpPr/>
          <p:nvPr/>
        </p:nvSpPr>
        <p:spPr>
          <a:xfrm>
            <a:off x="1295400" y="2919899"/>
            <a:ext cx="3276410" cy="4114800"/>
          </a:xfrm>
          <a:custGeom>
            <a:avLst/>
            <a:gdLst/>
            <a:ahLst/>
            <a:cxnLst/>
            <a:rect l="l" t="t" r="r" b="b"/>
            <a:pathLst>
              <a:path w="3276410" h="4114800">
                <a:moveTo>
                  <a:pt x="0" y="0"/>
                </a:moveTo>
                <a:lnTo>
                  <a:pt x="3276409" y="0"/>
                </a:lnTo>
                <a:lnTo>
                  <a:pt x="32764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7C08A3-8BE6-2B73-FB20-D33A91891727}"/>
              </a:ext>
            </a:extLst>
          </p:cNvPr>
          <p:cNvSpPr txBox="1"/>
          <p:nvPr/>
        </p:nvSpPr>
        <p:spPr>
          <a:xfrm>
            <a:off x="5067687" y="4793081"/>
            <a:ext cx="9942394" cy="554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779"/>
              </a:lnSpc>
              <a:spcBef>
                <a:spcPct val="0"/>
              </a:spcBef>
            </a:pPr>
            <a:r>
              <a:rPr lang="en-US" sz="2699" dirty="0">
                <a:solidFill>
                  <a:srgbClr val="FFFFFF"/>
                </a:solidFill>
                <a:latin typeface="Poppins"/>
              </a:rPr>
              <a:t>2-</a:t>
            </a:r>
            <a:r>
              <a:rPr lang="en-US" sz="1800" dirty="0">
                <a:solidFill>
                  <a:srgbClr val="FFFFFF"/>
                </a:solidFill>
                <a:latin typeface="Poppins"/>
              </a:rPr>
              <a:t> </a:t>
            </a:r>
            <a:r>
              <a:rPr lang="en-US" sz="2699" dirty="0">
                <a:solidFill>
                  <a:srgbClr val="FFFFFF"/>
                </a:solidFill>
                <a:latin typeface="Poppins"/>
              </a:rPr>
              <a:t>Some branches needed detailed analysis.</a:t>
            </a:r>
          </a:p>
        </p:txBody>
      </p:sp>
      <p:pic>
        <p:nvPicPr>
          <p:cNvPr id="12" name="Picture 11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D9386F6F-5BE3-0ADC-0758-10D2BB5FCD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427" y="252477"/>
            <a:ext cx="3589619" cy="77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323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 animBg="1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10081" y="315677"/>
            <a:ext cx="2898297" cy="2774040"/>
          </a:xfrm>
          <a:custGeom>
            <a:avLst/>
            <a:gdLst/>
            <a:ahLst/>
            <a:cxnLst/>
            <a:rect l="l" t="t" r="r" b="b"/>
            <a:pathLst>
              <a:path w="2898297" h="2774040">
                <a:moveTo>
                  <a:pt x="0" y="0"/>
                </a:moveTo>
                <a:lnTo>
                  <a:pt x="2898298" y="0"/>
                </a:lnTo>
                <a:lnTo>
                  <a:pt x="2898298" y="2774040"/>
                </a:lnTo>
                <a:lnTo>
                  <a:pt x="0" y="2774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771244" y="6747869"/>
            <a:ext cx="5505900" cy="3223454"/>
          </a:xfrm>
          <a:custGeom>
            <a:avLst/>
            <a:gdLst/>
            <a:ahLst/>
            <a:cxnLst/>
            <a:rect l="l" t="t" r="r" b="b"/>
            <a:pathLst>
              <a:path w="5505900" h="3223454">
                <a:moveTo>
                  <a:pt x="0" y="0"/>
                </a:moveTo>
                <a:lnTo>
                  <a:pt x="5505901" y="0"/>
                </a:lnTo>
                <a:lnTo>
                  <a:pt x="5505901" y="3223454"/>
                </a:lnTo>
                <a:lnTo>
                  <a:pt x="0" y="32234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7461777" y="7605853"/>
            <a:ext cx="1652447" cy="1652447"/>
            <a:chOff x="0" y="0"/>
            <a:chExt cx="6350000" cy="6350000"/>
          </a:xfrm>
        </p:grpSpPr>
        <p:sp>
          <p:nvSpPr>
            <p:cNvPr id="5" name="Freeform 5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334006" y="2270492"/>
            <a:ext cx="4809425" cy="4809425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E1476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3027700"/>
            <a:ext cx="16230600" cy="2923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10"/>
              </a:lnSpc>
              <a:spcBef>
                <a:spcPct val="0"/>
              </a:spcBef>
            </a:pPr>
            <a:r>
              <a:rPr lang="en-US" sz="16150" dirty="0">
                <a:solidFill>
                  <a:srgbClr val="FFFFFF"/>
                </a:solidFill>
                <a:latin typeface="Poppins"/>
              </a:rPr>
              <a:t>THANK YOU</a:t>
            </a:r>
          </a:p>
        </p:txBody>
      </p:sp>
      <p:pic>
        <p:nvPicPr>
          <p:cNvPr id="11" name="Picture 10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A81A8223-0434-66AD-4EEA-AFA6632511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427" y="252477"/>
            <a:ext cx="3589619" cy="7717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266</Words>
  <Application>Microsoft Office PowerPoint</Application>
  <PresentationFormat>Custom</PresentationFormat>
  <Paragraphs>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Poppins Bold</vt:lpstr>
      <vt:lpstr>Poppins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presentation</dc:title>
  <cp:lastModifiedBy>Ahmed Khaled elnager 1920012</cp:lastModifiedBy>
  <cp:revision>10</cp:revision>
  <dcterms:created xsi:type="dcterms:W3CDTF">2006-08-16T00:00:00Z</dcterms:created>
  <dcterms:modified xsi:type="dcterms:W3CDTF">2023-08-30T10:23:39Z</dcterms:modified>
  <dc:identifier>DAFpwrKcLU4</dc:identifier>
</cp:coreProperties>
</file>